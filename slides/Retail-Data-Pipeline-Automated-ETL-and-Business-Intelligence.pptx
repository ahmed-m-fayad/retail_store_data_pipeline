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Lato"/>
      <p:regular r:id="rId17"/>
    </p:embeddedFont>
    <p:embeddedFont>
      <p:font typeface="Lato"/>
      <p:regular r:id="rId18"/>
    </p:embeddedFont>
    <p:embeddedFont>
      <p:font typeface="Lato"/>
      <p:regular r:id="rId19"/>
    </p:embeddedFont>
    <p:embeddedFont>
      <p:font typeface="Lato"/>
      <p:regular r:id="rId20"/>
    </p:embeddedFont>
    <p:embeddedFont>
      <p:font typeface="Lato"/>
      <p:regular r:id="rId21"/>
    </p:embeddedFont>
    <p:embeddedFont>
      <p:font typeface="Lato"/>
      <p:regular r:id="rId22"/>
    </p:embeddedFont>
    <p:embeddedFont>
      <p:font typeface="Lato"/>
      <p:regular r:id="rId23"/>
    </p:embeddedFont>
    <p:embeddedFont>
      <p:font typeface="Lato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image" Target="../media/image-5-10.png"/><Relationship Id="rId11" Type="http://schemas.openxmlformats.org/officeDocument/2006/relationships/image" Target="../media/image-5-11.svg"/><Relationship Id="rId12" Type="http://schemas.openxmlformats.org/officeDocument/2006/relationships/slideLayout" Target="../slideLayouts/slideLayout6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image" Target="../media/image-8-15.png"/><Relationship Id="rId16" Type="http://schemas.openxmlformats.org/officeDocument/2006/relationships/image" Target="../media/image-8-16.svg"/><Relationship Id="rId17" Type="http://schemas.openxmlformats.org/officeDocument/2006/relationships/slideLayout" Target="../slideLayouts/slideLayout9.xml"/><Relationship Id="rId1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654737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Retail Data Pipeline: Automated ETL &amp; Business Intelligence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5121235"/>
            <a:ext cx="75564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Smart data processing from raw CSV to actionable insights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6847" y="585907"/>
            <a:ext cx="5146477" cy="643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Business Challenge</a:t>
            </a:r>
            <a:endParaRPr lang="en-US" sz="4050" dirty="0"/>
          </a:p>
        </p:txBody>
      </p:sp>
      <p:sp>
        <p:nvSpPr>
          <p:cNvPr id="4" name="Text 1"/>
          <p:cNvSpPr/>
          <p:nvPr/>
        </p:nvSpPr>
        <p:spPr>
          <a:xfrm>
            <a:off x="6206847" y="1537930"/>
            <a:ext cx="7703106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Addressing critical pain points in retail data management.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206847" y="2098834"/>
            <a:ext cx="7703106" cy="1231821"/>
          </a:xfrm>
          <a:prstGeom prst="roundRect">
            <a:avLst>
              <a:gd name="adj" fmla="val 8908"/>
            </a:avLst>
          </a:prstGeom>
          <a:solidFill>
            <a:srgbClr val="EFECE6"/>
          </a:solidFill>
          <a:ln w="22860">
            <a:solidFill>
              <a:srgbClr val="CBC5B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183987" y="2098834"/>
            <a:ext cx="91440" cy="1231821"/>
          </a:xfrm>
          <a:prstGeom prst="roundRect">
            <a:avLst>
              <a:gd name="adj" fmla="val 33770"/>
            </a:avLst>
          </a:prstGeom>
          <a:solidFill>
            <a:srgbClr val="282824"/>
          </a:solidFill>
          <a:ln/>
        </p:spPr>
      </p:sp>
      <p:sp>
        <p:nvSpPr>
          <p:cNvPr id="7" name="Text 4"/>
          <p:cNvSpPr/>
          <p:nvPr/>
        </p:nvSpPr>
        <p:spPr>
          <a:xfrm>
            <a:off x="6504146" y="2327553"/>
            <a:ext cx="2573179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Manual Data Handling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504146" y="2772608"/>
            <a:ext cx="7177088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Time-consuming, error-prone processes.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06847" y="3536513"/>
            <a:ext cx="7703106" cy="1231821"/>
          </a:xfrm>
          <a:prstGeom prst="roundRect">
            <a:avLst>
              <a:gd name="adj" fmla="val 8908"/>
            </a:avLst>
          </a:prstGeom>
          <a:solidFill>
            <a:srgbClr val="EFECE6"/>
          </a:solidFill>
          <a:ln w="22860">
            <a:solidFill>
              <a:srgbClr val="CBC5B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183987" y="3536513"/>
            <a:ext cx="91440" cy="1231821"/>
          </a:xfrm>
          <a:prstGeom prst="roundRect">
            <a:avLst>
              <a:gd name="adj" fmla="val 33770"/>
            </a:avLst>
          </a:prstGeom>
          <a:solidFill>
            <a:srgbClr val="282824"/>
          </a:solidFill>
          <a:ln/>
        </p:spPr>
      </p:sp>
      <p:sp>
        <p:nvSpPr>
          <p:cNvPr id="11" name="Text 8"/>
          <p:cNvSpPr/>
          <p:nvPr/>
        </p:nvSpPr>
        <p:spPr>
          <a:xfrm>
            <a:off x="6504146" y="3765233"/>
            <a:ext cx="2573179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Inconsistent Data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504146" y="4210288"/>
            <a:ext cx="7177088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Quality issues across 9 datasets.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06847" y="4974193"/>
            <a:ext cx="7703106" cy="1231821"/>
          </a:xfrm>
          <a:prstGeom prst="roundRect">
            <a:avLst>
              <a:gd name="adj" fmla="val 8908"/>
            </a:avLst>
          </a:prstGeom>
          <a:solidFill>
            <a:srgbClr val="EFECE6"/>
          </a:solidFill>
          <a:ln w="22860">
            <a:solidFill>
              <a:srgbClr val="CBC5B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83987" y="4974193"/>
            <a:ext cx="91440" cy="1231821"/>
          </a:xfrm>
          <a:prstGeom prst="roundRect">
            <a:avLst>
              <a:gd name="adj" fmla="val 33770"/>
            </a:avLst>
          </a:prstGeom>
          <a:solidFill>
            <a:srgbClr val="282824"/>
          </a:solidFill>
          <a:ln/>
        </p:spPr>
      </p:sp>
      <p:sp>
        <p:nvSpPr>
          <p:cNvPr id="15" name="Text 12"/>
          <p:cNvSpPr/>
          <p:nvPr/>
        </p:nvSpPr>
        <p:spPr>
          <a:xfrm>
            <a:off x="6504146" y="5202912"/>
            <a:ext cx="2573179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No Automated SQL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504146" y="5647968"/>
            <a:ext cx="7177088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Lack of direct database loading.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206847" y="6411873"/>
            <a:ext cx="7703106" cy="1231821"/>
          </a:xfrm>
          <a:prstGeom prst="roundRect">
            <a:avLst>
              <a:gd name="adj" fmla="val 8908"/>
            </a:avLst>
          </a:prstGeom>
          <a:solidFill>
            <a:srgbClr val="EFECE6"/>
          </a:solidFill>
          <a:ln w="22860">
            <a:solidFill>
              <a:srgbClr val="CBC5B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83987" y="6411873"/>
            <a:ext cx="91440" cy="1231821"/>
          </a:xfrm>
          <a:prstGeom prst="roundRect">
            <a:avLst>
              <a:gd name="adj" fmla="val 33770"/>
            </a:avLst>
          </a:prstGeom>
          <a:solidFill>
            <a:srgbClr val="282824"/>
          </a:solidFill>
          <a:ln/>
        </p:spPr>
      </p:sp>
      <p:sp>
        <p:nvSpPr>
          <p:cNvPr id="19" name="Text 16"/>
          <p:cNvSpPr/>
          <p:nvPr/>
        </p:nvSpPr>
        <p:spPr>
          <a:xfrm>
            <a:off x="6504146" y="6640592"/>
            <a:ext cx="2573179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Limited BI Reports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504146" y="7085648"/>
            <a:ext cx="7177088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Absence of real-time insights.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6298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Pipeline Architecture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2539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robust, automated solution for data integrity and insight generation.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5005030"/>
            <a:ext cx="13042821" cy="30480"/>
          </a:xfrm>
          <a:prstGeom prst="roundRect">
            <a:avLst>
              <a:gd name="adj" fmla="val 111628"/>
            </a:avLst>
          </a:prstGeom>
          <a:solidFill>
            <a:srgbClr val="CBC5B8"/>
          </a:solidFill>
          <a:ln/>
        </p:spPr>
      </p:sp>
      <p:sp>
        <p:nvSpPr>
          <p:cNvPr id="5" name="Shape 3"/>
          <p:cNvSpPr/>
          <p:nvPr/>
        </p:nvSpPr>
        <p:spPr>
          <a:xfrm>
            <a:off x="2857857" y="4324588"/>
            <a:ext cx="30480" cy="680442"/>
          </a:xfrm>
          <a:prstGeom prst="roundRect">
            <a:avLst>
              <a:gd name="adj" fmla="val 111628"/>
            </a:avLst>
          </a:prstGeom>
          <a:solidFill>
            <a:srgbClr val="CBC5B8"/>
          </a:solidFill>
          <a:ln/>
        </p:spPr>
      </p:sp>
      <p:sp>
        <p:nvSpPr>
          <p:cNvPr id="6" name="Shape 4"/>
          <p:cNvSpPr/>
          <p:nvPr/>
        </p:nvSpPr>
        <p:spPr>
          <a:xfrm>
            <a:off x="2617946" y="474987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03016" y="4834890"/>
            <a:ext cx="340162" cy="3401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55420" y="37434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Raw CSV Data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078849" y="5005030"/>
            <a:ext cx="30480" cy="680442"/>
          </a:xfrm>
          <a:prstGeom prst="roundRect">
            <a:avLst>
              <a:gd name="adj" fmla="val 111628"/>
            </a:avLst>
          </a:prstGeom>
          <a:solidFill>
            <a:srgbClr val="CBC5B8"/>
          </a:solidFill>
          <a:ln/>
        </p:spPr>
      </p:sp>
      <p:sp>
        <p:nvSpPr>
          <p:cNvPr id="10" name="Shape 7"/>
          <p:cNvSpPr/>
          <p:nvPr/>
        </p:nvSpPr>
        <p:spPr>
          <a:xfrm>
            <a:off x="4838938" y="474987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24008" y="4834890"/>
            <a:ext cx="340162" cy="3401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76412" y="59122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Quality Check</a:t>
            </a:r>
            <a:endParaRPr lang="en-US" sz="2200" dirty="0"/>
          </a:p>
        </p:txBody>
      </p:sp>
      <p:sp>
        <p:nvSpPr>
          <p:cNvPr id="13" name="Shape 9"/>
          <p:cNvSpPr/>
          <p:nvPr/>
        </p:nvSpPr>
        <p:spPr>
          <a:xfrm>
            <a:off x="7299960" y="4324588"/>
            <a:ext cx="30480" cy="680442"/>
          </a:xfrm>
          <a:prstGeom prst="roundRect">
            <a:avLst>
              <a:gd name="adj" fmla="val 111628"/>
            </a:avLst>
          </a:prstGeom>
          <a:solidFill>
            <a:srgbClr val="CBC5B8"/>
          </a:solidFill>
          <a:ln/>
        </p:spPr>
      </p:sp>
      <p:sp>
        <p:nvSpPr>
          <p:cNvPr id="14" name="Shape 10"/>
          <p:cNvSpPr/>
          <p:nvPr/>
        </p:nvSpPr>
        <p:spPr>
          <a:xfrm>
            <a:off x="7060049" y="474987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45119" y="4834890"/>
            <a:ext cx="340162" cy="34016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897523" y="37434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Transform Data</a:t>
            </a:r>
            <a:endParaRPr lang="en-US" sz="2200" dirty="0"/>
          </a:p>
        </p:txBody>
      </p:sp>
      <p:sp>
        <p:nvSpPr>
          <p:cNvPr id="17" name="Shape 12"/>
          <p:cNvSpPr/>
          <p:nvPr/>
        </p:nvSpPr>
        <p:spPr>
          <a:xfrm>
            <a:off x="9520952" y="5005030"/>
            <a:ext cx="30480" cy="680442"/>
          </a:xfrm>
          <a:prstGeom prst="roundRect">
            <a:avLst>
              <a:gd name="adj" fmla="val 111628"/>
            </a:avLst>
          </a:prstGeom>
          <a:solidFill>
            <a:srgbClr val="CBC5B8"/>
          </a:solidFill>
          <a:ln/>
        </p:spPr>
      </p:sp>
      <p:sp>
        <p:nvSpPr>
          <p:cNvPr id="18" name="Shape 13"/>
          <p:cNvSpPr/>
          <p:nvPr/>
        </p:nvSpPr>
        <p:spPr>
          <a:xfrm>
            <a:off x="9281041" y="474987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66111" y="4834890"/>
            <a:ext cx="340162" cy="34016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118515" y="59122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SQL Server Load</a:t>
            </a:r>
            <a:endParaRPr lang="en-US" sz="2200" dirty="0"/>
          </a:p>
        </p:txBody>
      </p:sp>
      <p:sp>
        <p:nvSpPr>
          <p:cNvPr id="21" name="Shape 15"/>
          <p:cNvSpPr/>
          <p:nvPr/>
        </p:nvSpPr>
        <p:spPr>
          <a:xfrm>
            <a:off x="11742063" y="4324588"/>
            <a:ext cx="30480" cy="680442"/>
          </a:xfrm>
          <a:prstGeom prst="roundRect">
            <a:avLst>
              <a:gd name="adj" fmla="val 111628"/>
            </a:avLst>
          </a:prstGeom>
          <a:solidFill>
            <a:srgbClr val="CBC5B8"/>
          </a:solidFill>
          <a:ln/>
        </p:spPr>
      </p:sp>
      <p:sp>
        <p:nvSpPr>
          <p:cNvPr id="22" name="Shape 16"/>
          <p:cNvSpPr/>
          <p:nvPr/>
        </p:nvSpPr>
        <p:spPr>
          <a:xfrm>
            <a:off x="11502152" y="474987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587222" y="4834890"/>
            <a:ext cx="340162" cy="34016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339626" y="37434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Analytics Reports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3172" y="481846"/>
            <a:ext cx="6558201" cy="547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Stage 1: Data Quality Assessment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13172" y="1379696"/>
            <a:ext cx="13404056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Ensuring data reliability from the very beginning.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13172" y="2054185"/>
            <a:ext cx="394216" cy="394216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</p:sp>
      <p:sp>
        <p:nvSpPr>
          <p:cNvPr id="5" name="Text 3"/>
          <p:cNvSpPr/>
          <p:nvPr/>
        </p:nvSpPr>
        <p:spPr>
          <a:xfrm>
            <a:off x="1182529" y="2114312"/>
            <a:ext cx="2190155" cy="273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Automatic Analysis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82529" y="2563297"/>
            <a:ext cx="5918954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Scans 9 diverse datasets.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3172" y="3194090"/>
            <a:ext cx="394216" cy="394216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</p:sp>
      <p:sp>
        <p:nvSpPr>
          <p:cNvPr id="8" name="Text 6"/>
          <p:cNvSpPr/>
          <p:nvPr/>
        </p:nvSpPr>
        <p:spPr>
          <a:xfrm>
            <a:off x="1182529" y="3254216"/>
            <a:ext cx="2190155" cy="273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Detects Issues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82529" y="3703201"/>
            <a:ext cx="5918954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Finds duplicates, missing values, type errors, rule violations.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3172" y="4333994"/>
            <a:ext cx="394216" cy="394216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</p:sp>
      <p:sp>
        <p:nvSpPr>
          <p:cNvPr id="11" name="Text 9"/>
          <p:cNvSpPr/>
          <p:nvPr/>
        </p:nvSpPr>
        <p:spPr>
          <a:xfrm>
            <a:off x="1182529" y="4394121"/>
            <a:ext cx="2386965" cy="273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Generates Quality Score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82529" y="4843105"/>
            <a:ext cx="5918954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Provides a percentage (0-100%).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3172" y="5473898"/>
            <a:ext cx="394216" cy="394216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</p:sp>
      <p:sp>
        <p:nvSpPr>
          <p:cNvPr id="14" name="Text 12"/>
          <p:cNvSpPr/>
          <p:nvPr/>
        </p:nvSpPr>
        <p:spPr>
          <a:xfrm>
            <a:off x="1182529" y="5534025"/>
            <a:ext cx="2190155" cy="273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Creates Config File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82529" y="5983010"/>
            <a:ext cx="5918954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Outputs smart `pipeline_config.yaml`.</a:t>
            </a:r>
            <a:endParaRPr lang="en-US" sz="13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6537" y="2054185"/>
            <a:ext cx="6488311" cy="64883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8295" y="509349"/>
            <a:ext cx="7371993" cy="578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36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Stage 2: Smart Data Transformation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8295" y="1458635"/>
            <a:ext cx="13333809" cy="296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Intelligent processing for clean, usable data.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295" y="2171700"/>
            <a:ext cx="5751552" cy="575155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28842" y="2177415"/>
            <a:ext cx="277773" cy="27777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461290" y="2171700"/>
            <a:ext cx="2506385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Column Standardization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7461290" y="2646283"/>
            <a:ext cx="6528316" cy="296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Lowercase, consistent underscores.</a:t>
            </a:r>
            <a:endParaRPr lang="en-US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28842" y="3318748"/>
            <a:ext cx="277773" cy="27777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461290" y="3313033"/>
            <a:ext cx="2541389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Advanced Data Cleaning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7461290" y="3787616"/>
            <a:ext cx="6528316" cy="296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Handles duplicates, nulls, invalid values.</a:t>
            </a:r>
            <a:endParaRPr lang="en-US" sz="14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28842" y="4460081"/>
            <a:ext cx="277773" cy="27777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461290" y="4454366"/>
            <a:ext cx="2315647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Type Conversions</a:t>
            </a:r>
            <a:endParaRPr lang="en-US" sz="1800" dirty="0"/>
          </a:p>
        </p:txBody>
      </p:sp>
      <p:sp>
        <p:nvSpPr>
          <p:cNvPr id="13" name="Text 7"/>
          <p:cNvSpPr/>
          <p:nvPr/>
        </p:nvSpPr>
        <p:spPr>
          <a:xfrm>
            <a:off x="7461290" y="4928949"/>
            <a:ext cx="6528316" cy="296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Accurate date parsing, format adjustments.</a:t>
            </a:r>
            <a:endParaRPr lang="en-US" sz="14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28842" y="5601414"/>
            <a:ext cx="277773" cy="27777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461290" y="5595699"/>
            <a:ext cx="2315647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Business Calculations</a:t>
            </a:r>
            <a:endParaRPr lang="en-US" sz="1800" dirty="0"/>
          </a:p>
        </p:txBody>
      </p:sp>
      <p:sp>
        <p:nvSpPr>
          <p:cNvPr id="16" name="Text 9"/>
          <p:cNvSpPr/>
          <p:nvPr/>
        </p:nvSpPr>
        <p:spPr>
          <a:xfrm>
            <a:off x="7461290" y="6070283"/>
            <a:ext cx="6528316" cy="296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Automates order totals, data enrichment.</a:t>
            </a:r>
            <a:endParaRPr lang="en-US" sz="14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928842" y="6742748"/>
            <a:ext cx="277773" cy="277773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461290" y="6737033"/>
            <a:ext cx="2315647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Cleaned CSV Output</a:t>
            </a:r>
            <a:endParaRPr lang="en-US" sz="1800" dirty="0"/>
          </a:p>
        </p:txBody>
      </p:sp>
      <p:sp>
        <p:nvSpPr>
          <p:cNvPr id="19" name="Text 11"/>
          <p:cNvSpPr/>
          <p:nvPr/>
        </p:nvSpPr>
        <p:spPr>
          <a:xfrm>
            <a:off x="7461290" y="7211616"/>
            <a:ext cx="6528316" cy="296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Ready for database loading.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815" y="481489"/>
            <a:ext cx="5778818" cy="547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Stage 3: Database Integration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12815" y="1378863"/>
            <a:ext cx="13404771" cy="280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Seamless loading into SQL Server with defined relationships.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12815" y="2052876"/>
            <a:ext cx="6488787" cy="1078706"/>
          </a:xfrm>
          <a:prstGeom prst="roundRect">
            <a:avLst>
              <a:gd name="adj" fmla="val 38959"/>
            </a:avLst>
          </a:prstGeom>
          <a:solidFill>
            <a:srgbClr val="E5DFD2"/>
          </a:solidFill>
          <a:ln/>
        </p:spPr>
      </p:sp>
      <p:sp>
        <p:nvSpPr>
          <p:cNvPr id="5" name="Text 3"/>
          <p:cNvSpPr/>
          <p:nvPr/>
        </p:nvSpPr>
        <p:spPr>
          <a:xfrm>
            <a:off x="787837" y="2227898"/>
            <a:ext cx="2188726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Automated Schema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87837" y="2676406"/>
            <a:ext cx="6138743" cy="280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Creates 9 new tables.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2815" y="3306604"/>
            <a:ext cx="6488787" cy="1078706"/>
          </a:xfrm>
          <a:prstGeom prst="roundRect">
            <a:avLst>
              <a:gd name="adj" fmla="val 38959"/>
            </a:avLst>
          </a:prstGeom>
          <a:solidFill>
            <a:srgbClr val="E5DFD2"/>
          </a:solidFill>
          <a:ln/>
        </p:spPr>
      </p:sp>
      <p:sp>
        <p:nvSpPr>
          <p:cNvPr id="8" name="Text 6"/>
          <p:cNvSpPr/>
          <p:nvPr/>
        </p:nvSpPr>
        <p:spPr>
          <a:xfrm>
            <a:off x="787837" y="3481626"/>
            <a:ext cx="2188726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Configured FKs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87837" y="3930134"/>
            <a:ext cx="6138743" cy="280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Foreign key relationships set.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2815" y="4560332"/>
            <a:ext cx="6488787" cy="1078706"/>
          </a:xfrm>
          <a:prstGeom prst="roundRect">
            <a:avLst>
              <a:gd name="adj" fmla="val 38959"/>
            </a:avLst>
          </a:prstGeom>
          <a:solidFill>
            <a:srgbClr val="E5DFD2"/>
          </a:solidFill>
          <a:ln/>
        </p:spPr>
      </p:sp>
      <p:sp>
        <p:nvSpPr>
          <p:cNvPr id="11" name="Text 9"/>
          <p:cNvSpPr/>
          <p:nvPr/>
        </p:nvSpPr>
        <p:spPr>
          <a:xfrm>
            <a:off x="787837" y="4735354"/>
            <a:ext cx="2188726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Intelligent Loading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87837" y="5183862"/>
            <a:ext cx="6138743" cy="280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Respects data dependencies.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2815" y="5814060"/>
            <a:ext cx="6488787" cy="1078706"/>
          </a:xfrm>
          <a:prstGeom prst="roundRect">
            <a:avLst>
              <a:gd name="adj" fmla="val 38959"/>
            </a:avLst>
          </a:prstGeom>
          <a:solidFill>
            <a:srgbClr val="E5DFD2"/>
          </a:solidFill>
          <a:ln/>
        </p:spPr>
      </p:sp>
      <p:sp>
        <p:nvSpPr>
          <p:cNvPr id="14" name="Text 12"/>
          <p:cNvSpPr/>
          <p:nvPr/>
        </p:nvSpPr>
        <p:spPr>
          <a:xfrm>
            <a:off x="787837" y="5989082"/>
            <a:ext cx="2188726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Data Verification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87837" y="6437590"/>
            <a:ext cx="6138743" cy="280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Ensures accuracy, integrity.</a:t>
            </a:r>
            <a:endParaRPr lang="en-US" sz="13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6418" y="2052876"/>
            <a:ext cx="6488787" cy="648878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2061"/>
            <a:ext cx="954000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Stage 4: Business Intelligence Reports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1446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Actionable insights delivered through pre-built analytics.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032522"/>
            <a:ext cx="3048000" cy="18838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51431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Sales Analysis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5633561"/>
            <a:ext cx="304800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Top products, revenue trends.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78" y="3032522"/>
            <a:ext cx="3048119" cy="188380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25278" y="51431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Customer Insights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125278" y="5633561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Segmentation, spending patterns.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884" y="3032522"/>
            <a:ext cx="3048119" cy="188380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56884" y="5143143"/>
            <a:ext cx="29766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Inventory Management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7456884" y="5633561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Stock levels, automated alerts.</a:t>
            </a:r>
            <a:endParaRPr lang="en-US" sz="17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8491" y="3032522"/>
            <a:ext cx="3048119" cy="188380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788491" y="51431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Staff Performance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0788491" y="5633561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Key operational metrics.</a:t>
            </a:r>
            <a:endParaRPr lang="en-US" sz="1750" dirty="0"/>
          </a:p>
        </p:txBody>
      </p:sp>
      <p:sp>
        <p:nvSpPr>
          <p:cNvPr id="16" name="Text 10"/>
          <p:cNvSpPr/>
          <p:nvPr/>
        </p:nvSpPr>
        <p:spPr>
          <a:xfrm>
            <a:off x="793790" y="661451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Over 15 pre-built analytical queries ensure comprehensive reporting.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3748" y="364331"/>
            <a:ext cx="3313033" cy="414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Why This Pipeline?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63748" y="1043464"/>
            <a:ext cx="13702903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Unlocking efficiency and accuracy for retail data.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63748" y="1536978"/>
            <a:ext cx="1987748" cy="248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Key Features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63748" y="2133243"/>
            <a:ext cx="6689884" cy="1030367"/>
          </a:xfrm>
          <a:prstGeom prst="roundRect">
            <a:avLst>
              <a:gd name="adj" fmla="val 7100"/>
            </a:avLst>
          </a:prstGeom>
          <a:solidFill>
            <a:srgbClr val="EFECE6"/>
          </a:solidFill>
          <a:ln/>
        </p:spPr>
      </p:sp>
      <p:sp>
        <p:nvSpPr>
          <p:cNvPr id="6" name="Shape 4"/>
          <p:cNvSpPr/>
          <p:nvPr/>
        </p:nvSpPr>
        <p:spPr>
          <a:xfrm>
            <a:off x="463748" y="2118003"/>
            <a:ext cx="6689884" cy="60960"/>
          </a:xfrm>
          <a:prstGeom prst="roundRect">
            <a:avLst>
              <a:gd name="adj" fmla="val 32609"/>
            </a:avLst>
          </a:prstGeom>
          <a:solidFill>
            <a:srgbClr val="282824"/>
          </a:solidFill>
          <a:ln/>
        </p:spPr>
      </p:sp>
      <p:sp>
        <p:nvSpPr>
          <p:cNvPr id="7" name="Shape 5"/>
          <p:cNvSpPr/>
          <p:nvPr/>
        </p:nvSpPr>
        <p:spPr>
          <a:xfrm>
            <a:off x="3609915" y="1934528"/>
            <a:ext cx="397550" cy="397550"/>
          </a:xfrm>
          <a:prstGeom prst="roundRect">
            <a:avLst>
              <a:gd name="adj" fmla="val 230009"/>
            </a:avLst>
          </a:prstGeom>
          <a:solidFill>
            <a:srgbClr val="28282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29216" y="2053828"/>
            <a:ext cx="158948" cy="1589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11505" y="2464475"/>
            <a:ext cx="1656517" cy="206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Fully Automated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11505" y="2803922"/>
            <a:ext cx="6394371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End-to-end workflow.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63748" y="3494842"/>
            <a:ext cx="6689884" cy="1030367"/>
          </a:xfrm>
          <a:prstGeom prst="roundRect">
            <a:avLst>
              <a:gd name="adj" fmla="val 7100"/>
            </a:avLst>
          </a:prstGeom>
          <a:solidFill>
            <a:srgbClr val="EFECE6"/>
          </a:solidFill>
          <a:ln/>
        </p:spPr>
      </p:sp>
      <p:sp>
        <p:nvSpPr>
          <p:cNvPr id="12" name="Shape 9"/>
          <p:cNvSpPr/>
          <p:nvPr/>
        </p:nvSpPr>
        <p:spPr>
          <a:xfrm>
            <a:off x="463748" y="3479602"/>
            <a:ext cx="6689884" cy="60960"/>
          </a:xfrm>
          <a:prstGeom prst="roundRect">
            <a:avLst>
              <a:gd name="adj" fmla="val 32609"/>
            </a:avLst>
          </a:prstGeom>
          <a:solidFill>
            <a:srgbClr val="282824"/>
          </a:solidFill>
          <a:ln/>
        </p:spPr>
      </p:sp>
      <p:sp>
        <p:nvSpPr>
          <p:cNvPr id="13" name="Shape 10"/>
          <p:cNvSpPr/>
          <p:nvPr/>
        </p:nvSpPr>
        <p:spPr>
          <a:xfrm>
            <a:off x="3609915" y="3296126"/>
            <a:ext cx="397550" cy="397550"/>
          </a:xfrm>
          <a:prstGeom prst="roundRect">
            <a:avLst>
              <a:gd name="adj" fmla="val 230009"/>
            </a:avLst>
          </a:prstGeom>
          <a:solidFill>
            <a:srgbClr val="28282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29216" y="3415427"/>
            <a:ext cx="158948" cy="1589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11505" y="3826073"/>
            <a:ext cx="1656517" cy="206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Intelligent Config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11505" y="4165521"/>
            <a:ext cx="6394371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YAML-driven settings.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63748" y="4856440"/>
            <a:ext cx="6689884" cy="1030367"/>
          </a:xfrm>
          <a:prstGeom prst="roundRect">
            <a:avLst>
              <a:gd name="adj" fmla="val 7100"/>
            </a:avLst>
          </a:prstGeom>
          <a:solidFill>
            <a:srgbClr val="EFECE6"/>
          </a:solidFill>
          <a:ln/>
        </p:spPr>
      </p:sp>
      <p:sp>
        <p:nvSpPr>
          <p:cNvPr id="18" name="Shape 14"/>
          <p:cNvSpPr/>
          <p:nvPr/>
        </p:nvSpPr>
        <p:spPr>
          <a:xfrm>
            <a:off x="463748" y="4841200"/>
            <a:ext cx="6689884" cy="60960"/>
          </a:xfrm>
          <a:prstGeom prst="roundRect">
            <a:avLst>
              <a:gd name="adj" fmla="val 32609"/>
            </a:avLst>
          </a:prstGeom>
          <a:solidFill>
            <a:srgbClr val="282824"/>
          </a:solidFill>
          <a:ln/>
        </p:spPr>
      </p:sp>
      <p:sp>
        <p:nvSpPr>
          <p:cNvPr id="19" name="Shape 15"/>
          <p:cNvSpPr/>
          <p:nvPr/>
        </p:nvSpPr>
        <p:spPr>
          <a:xfrm>
            <a:off x="3609915" y="4657725"/>
            <a:ext cx="397550" cy="397550"/>
          </a:xfrm>
          <a:prstGeom prst="roundRect">
            <a:avLst>
              <a:gd name="adj" fmla="val 230009"/>
            </a:avLst>
          </a:prstGeom>
          <a:solidFill>
            <a:srgbClr val="282824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29216" y="4777026"/>
            <a:ext cx="158948" cy="1589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1505" y="5187672"/>
            <a:ext cx="1656517" cy="206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Modular Design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11505" y="5527119"/>
            <a:ext cx="6394371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Flexible, scalable architecture.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63748" y="6218039"/>
            <a:ext cx="6689884" cy="1030367"/>
          </a:xfrm>
          <a:prstGeom prst="roundRect">
            <a:avLst>
              <a:gd name="adj" fmla="val 7100"/>
            </a:avLst>
          </a:prstGeom>
          <a:solidFill>
            <a:srgbClr val="EFECE6"/>
          </a:solidFill>
          <a:ln/>
        </p:spPr>
      </p:sp>
      <p:sp>
        <p:nvSpPr>
          <p:cNvPr id="24" name="Shape 19"/>
          <p:cNvSpPr/>
          <p:nvPr/>
        </p:nvSpPr>
        <p:spPr>
          <a:xfrm>
            <a:off x="463748" y="6202799"/>
            <a:ext cx="6689884" cy="60960"/>
          </a:xfrm>
          <a:prstGeom prst="roundRect">
            <a:avLst>
              <a:gd name="adj" fmla="val 32609"/>
            </a:avLst>
          </a:prstGeom>
          <a:solidFill>
            <a:srgbClr val="282824"/>
          </a:solidFill>
          <a:ln/>
        </p:spPr>
      </p:sp>
      <p:sp>
        <p:nvSpPr>
          <p:cNvPr id="25" name="Shape 20"/>
          <p:cNvSpPr/>
          <p:nvPr/>
        </p:nvSpPr>
        <p:spPr>
          <a:xfrm>
            <a:off x="3609915" y="6019324"/>
            <a:ext cx="397550" cy="397550"/>
          </a:xfrm>
          <a:prstGeom prst="roundRect">
            <a:avLst>
              <a:gd name="adj" fmla="val 230009"/>
            </a:avLst>
          </a:prstGeom>
          <a:solidFill>
            <a:srgbClr val="282824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29216" y="6138624"/>
            <a:ext cx="158948" cy="15894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11505" y="6549271"/>
            <a:ext cx="1724858" cy="206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Comprehensive Testing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611505" y="6888718"/>
            <a:ext cx="6394371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Ensures robust functionality.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7484388" y="1536978"/>
            <a:ext cx="1987748" cy="248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Benefits</a:t>
            </a:r>
            <a:endParaRPr lang="en-US" sz="1550" dirty="0"/>
          </a:p>
        </p:txBody>
      </p:sp>
      <p:sp>
        <p:nvSpPr>
          <p:cNvPr id="30" name="Shape 24"/>
          <p:cNvSpPr/>
          <p:nvPr/>
        </p:nvSpPr>
        <p:spPr>
          <a:xfrm>
            <a:off x="7484388" y="1934528"/>
            <a:ext cx="6689884" cy="1346478"/>
          </a:xfrm>
          <a:prstGeom prst="roundRect">
            <a:avLst>
              <a:gd name="adj" fmla="val 1476"/>
            </a:avLst>
          </a:prstGeom>
          <a:solidFill>
            <a:srgbClr val="E5DFD2"/>
          </a:solidFill>
          <a:ln/>
        </p:spPr>
      </p:sp>
      <p:sp>
        <p:nvSpPr>
          <p:cNvPr id="31" name="Shape 25"/>
          <p:cNvSpPr/>
          <p:nvPr/>
        </p:nvSpPr>
        <p:spPr>
          <a:xfrm>
            <a:off x="7616904" y="2067044"/>
            <a:ext cx="397550" cy="397550"/>
          </a:xfrm>
          <a:prstGeom prst="roundRect">
            <a:avLst>
              <a:gd name="adj" fmla="val 22998580"/>
            </a:avLst>
          </a:prstGeom>
          <a:solidFill>
            <a:srgbClr val="282824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26204" y="2176343"/>
            <a:ext cx="178832" cy="17883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616904" y="2597110"/>
            <a:ext cx="1656517" cy="206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Save 10+ Hours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7616904" y="2936558"/>
            <a:ext cx="6424851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Per week on data tasks.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7484388" y="3413522"/>
            <a:ext cx="6689884" cy="1346478"/>
          </a:xfrm>
          <a:prstGeom prst="roundRect">
            <a:avLst>
              <a:gd name="adj" fmla="val 1476"/>
            </a:avLst>
          </a:prstGeom>
          <a:solidFill>
            <a:srgbClr val="E5DFD2"/>
          </a:solidFill>
          <a:ln/>
        </p:spPr>
      </p:sp>
      <p:sp>
        <p:nvSpPr>
          <p:cNvPr id="36" name="Shape 29"/>
          <p:cNvSpPr/>
          <p:nvPr/>
        </p:nvSpPr>
        <p:spPr>
          <a:xfrm>
            <a:off x="7616904" y="3546038"/>
            <a:ext cx="397550" cy="397550"/>
          </a:xfrm>
          <a:prstGeom prst="roundRect">
            <a:avLst>
              <a:gd name="adj" fmla="val 22998580"/>
            </a:avLst>
          </a:prstGeom>
          <a:solidFill>
            <a:srgbClr val="282824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26204" y="3655338"/>
            <a:ext cx="178832" cy="17883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616904" y="4076105"/>
            <a:ext cx="1656517" cy="206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98.999% Accuracy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7616904" y="4415552"/>
            <a:ext cx="6424851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Reliable data, fewer errors.</a:t>
            </a:r>
            <a:endParaRPr lang="en-US" sz="1000" dirty="0"/>
          </a:p>
        </p:txBody>
      </p:sp>
      <p:sp>
        <p:nvSpPr>
          <p:cNvPr id="40" name="Shape 32"/>
          <p:cNvSpPr/>
          <p:nvPr/>
        </p:nvSpPr>
        <p:spPr>
          <a:xfrm>
            <a:off x="7484388" y="4892516"/>
            <a:ext cx="6689884" cy="1346478"/>
          </a:xfrm>
          <a:prstGeom prst="roundRect">
            <a:avLst>
              <a:gd name="adj" fmla="val 1476"/>
            </a:avLst>
          </a:prstGeom>
          <a:solidFill>
            <a:srgbClr val="E5DFD2"/>
          </a:solidFill>
          <a:ln/>
        </p:spPr>
      </p:sp>
      <p:sp>
        <p:nvSpPr>
          <p:cNvPr id="41" name="Shape 33"/>
          <p:cNvSpPr/>
          <p:nvPr/>
        </p:nvSpPr>
        <p:spPr>
          <a:xfrm>
            <a:off x="7616904" y="5025033"/>
            <a:ext cx="397550" cy="397550"/>
          </a:xfrm>
          <a:prstGeom prst="roundRect">
            <a:avLst>
              <a:gd name="adj" fmla="val 22998580"/>
            </a:avLst>
          </a:prstGeom>
          <a:solidFill>
            <a:srgbClr val="282824"/>
          </a:solidFill>
          <a:ln/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726204" y="5134332"/>
            <a:ext cx="178832" cy="178832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7616904" y="5555099"/>
            <a:ext cx="1656517" cy="206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Real-Time Insights</a:t>
            </a:r>
            <a:endParaRPr lang="en-US" sz="1300" dirty="0"/>
          </a:p>
        </p:txBody>
      </p:sp>
      <p:sp>
        <p:nvSpPr>
          <p:cNvPr id="44" name="Text 35"/>
          <p:cNvSpPr/>
          <p:nvPr/>
        </p:nvSpPr>
        <p:spPr>
          <a:xfrm>
            <a:off x="7616904" y="5894546"/>
            <a:ext cx="6424851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Faster, informed decisions.</a:t>
            </a:r>
            <a:endParaRPr lang="en-US" sz="1000" dirty="0"/>
          </a:p>
        </p:txBody>
      </p:sp>
      <p:sp>
        <p:nvSpPr>
          <p:cNvPr id="45" name="Shape 36"/>
          <p:cNvSpPr/>
          <p:nvPr/>
        </p:nvSpPr>
        <p:spPr>
          <a:xfrm>
            <a:off x="7484388" y="6371511"/>
            <a:ext cx="6689884" cy="1346478"/>
          </a:xfrm>
          <a:prstGeom prst="roundRect">
            <a:avLst>
              <a:gd name="adj" fmla="val 1476"/>
            </a:avLst>
          </a:prstGeom>
          <a:solidFill>
            <a:srgbClr val="E5DFD2"/>
          </a:solidFill>
          <a:ln/>
        </p:spPr>
      </p:sp>
      <p:sp>
        <p:nvSpPr>
          <p:cNvPr id="46" name="Shape 37"/>
          <p:cNvSpPr/>
          <p:nvPr/>
        </p:nvSpPr>
        <p:spPr>
          <a:xfrm>
            <a:off x="7616904" y="6504027"/>
            <a:ext cx="397550" cy="397550"/>
          </a:xfrm>
          <a:prstGeom prst="roundRect">
            <a:avLst>
              <a:gd name="adj" fmla="val 22998580"/>
            </a:avLst>
          </a:prstGeom>
          <a:solidFill>
            <a:srgbClr val="282824"/>
          </a:solidFill>
          <a:ln/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726204" y="6613327"/>
            <a:ext cx="178832" cy="178832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7616904" y="7034093"/>
            <a:ext cx="1656517" cy="206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Easy to Maintain</a:t>
            </a:r>
            <a:endParaRPr lang="en-US" sz="1300" dirty="0"/>
          </a:p>
        </p:txBody>
      </p:sp>
      <p:sp>
        <p:nvSpPr>
          <p:cNvPr id="49" name="Text 39"/>
          <p:cNvSpPr/>
          <p:nvPr/>
        </p:nvSpPr>
        <p:spPr>
          <a:xfrm>
            <a:off x="7616904" y="7373541"/>
            <a:ext cx="6424851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Streamlined operations.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04154"/>
            <a:ext cx="676548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Technology &amp; Architecture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6656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Leveraging modern tools for a robust and scalable solution.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584615"/>
            <a:ext cx="4196358" cy="1306949"/>
          </a:xfrm>
          <a:prstGeom prst="roundRect">
            <a:avLst>
              <a:gd name="adj" fmla="val 2603"/>
            </a:avLst>
          </a:prstGeom>
          <a:solidFill>
            <a:srgbClr val="E5DFD2"/>
          </a:solidFill>
          <a:ln/>
        </p:spPr>
      </p:sp>
      <p:sp>
        <p:nvSpPr>
          <p:cNvPr id="5" name="Text 3"/>
          <p:cNvSpPr/>
          <p:nvPr/>
        </p:nvSpPr>
        <p:spPr>
          <a:xfrm>
            <a:off x="1474351" y="38114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Python 3.7+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0604" y="4301847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Pandas, NumPy, SQLAlchemy.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584615"/>
            <a:ext cx="4196358" cy="1306949"/>
          </a:xfrm>
          <a:prstGeom prst="roundRect">
            <a:avLst>
              <a:gd name="adj" fmla="val 2603"/>
            </a:avLst>
          </a:prstGeom>
          <a:solidFill>
            <a:srgbClr val="E5DFD2"/>
          </a:solidFill>
          <a:ln/>
        </p:spPr>
      </p:sp>
      <p:sp>
        <p:nvSpPr>
          <p:cNvPr id="8" name="Text 6"/>
          <p:cNvSpPr/>
          <p:nvPr/>
        </p:nvSpPr>
        <p:spPr>
          <a:xfrm>
            <a:off x="5897523" y="38114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SQL Server 2016+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43776" y="4301847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Efficient ODBC connectivity.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0133" y="3584615"/>
            <a:ext cx="4196358" cy="1306949"/>
          </a:xfrm>
          <a:prstGeom prst="roundRect">
            <a:avLst>
              <a:gd name="adj" fmla="val 2603"/>
            </a:avLst>
          </a:prstGeom>
          <a:solidFill>
            <a:srgbClr val="E5DFD2"/>
          </a:solidFill>
          <a:ln/>
        </p:spPr>
      </p:sp>
      <p:sp>
        <p:nvSpPr>
          <p:cNvPr id="11" name="Text 9"/>
          <p:cNvSpPr/>
          <p:nvPr/>
        </p:nvSpPr>
        <p:spPr>
          <a:xfrm>
            <a:off x="10320695" y="38114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Matplotlib/Seaborn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66948" y="4301847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Rich data visualizations.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5118378"/>
            <a:ext cx="6407944" cy="1306949"/>
          </a:xfrm>
          <a:prstGeom prst="roundRect">
            <a:avLst>
              <a:gd name="adj" fmla="val 2603"/>
            </a:avLst>
          </a:prstGeom>
          <a:solidFill>
            <a:srgbClr val="E5DFD2"/>
          </a:solidFill>
          <a:ln/>
        </p:spPr>
      </p:sp>
      <p:sp>
        <p:nvSpPr>
          <p:cNvPr id="14" name="Text 12"/>
          <p:cNvSpPr/>
          <p:nvPr/>
        </p:nvSpPr>
        <p:spPr>
          <a:xfrm>
            <a:off x="2580084" y="53451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PyTest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20604" y="5835610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85% code coverage.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118378"/>
            <a:ext cx="6407944" cy="1306949"/>
          </a:xfrm>
          <a:prstGeom prst="roundRect">
            <a:avLst>
              <a:gd name="adj" fmla="val 2603"/>
            </a:avLst>
          </a:prstGeom>
          <a:solidFill>
            <a:srgbClr val="E5DFD2"/>
          </a:solidFill>
          <a:ln/>
        </p:spPr>
      </p:sp>
      <p:sp>
        <p:nvSpPr>
          <p:cNvPr id="17" name="Text 15"/>
          <p:cNvSpPr/>
          <p:nvPr/>
        </p:nvSpPr>
        <p:spPr>
          <a:xfrm>
            <a:off x="9214842" y="53451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YAML Config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655362" y="5835610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Declarative setup.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2090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Real-World Impact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8331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Tangible results showcasing the pipeline's effectiveness.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414713"/>
            <a:ext cx="226814" cy="226814"/>
          </a:xfrm>
          <a:prstGeom prst="roundRect">
            <a:avLst>
              <a:gd name="adj" fmla="val 201575"/>
            </a:avLst>
          </a:prstGeom>
          <a:solidFill>
            <a:srgbClr val="282824"/>
          </a:solidFill>
          <a:ln/>
        </p:spPr>
      </p:sp>
      <p:sp>
        <p:nvSpPr>
          <p:cNvPr id="5" name="Shape 3"/>
          <p:cNvSpPr/>
          <p:nvPr/>
        </p:nvSpPr>
        <p:spPr>
          <a:xfrm>
            <a:off x="1043226" y="3414713"/>
            <a:ext cx="226814" cy="226814"/>
          </a:xfrm>
          <a:prstGeom prst="roundRect">
            <a:avLst>
              <a:gd name="adj" fmla="val 201575"/>
            </a:avLst>
          </a:prstGeom>
          <a:solidFill>
            <a:srgbClr val="282824"/>
          </a:solidFill>
          <a:ln/>
        </p:spPr>
      </p:sp>
      <p:sp>
        <p:nvSpPr>
          <p:cNvPr id="6" name="Shape 4"/>
          <p:cNvSpPr/>
          <p:nvPr/>
        </p:nvSpPr>
        <p:spPr>
          <a:xfrm>
            <a:off x="1292662" y="3414713"/>
            <a:ext cx="226814" cy="226814"/>
          </a:xfrm>
          <a:prstGeom prst="roundRect">
            <a:avLst>
              <a:gd name="adj" fmla="val 201575"/>
            </a:avLst>
          </a:prstGeom>
          <a:solidFill>
            <a:srgbClr val="282824"/>
          </a:solidFill>
          <a:ln/>
        </p:spPr>
      </p:sp>
      <p:sp>
        <p:nvSpPr>
          <p:cNvPr id="7" name="Shape 5"/>
          <p:cNvSpPr/>
          <p:nvPr/>
        </p:nvSpPr>
        <p:spPr>
          <a:xfrm>
            <a:off x="1542098" y="3414713"/>
            <a:ext cx="226814" cy="226814"/>
          </a:xfrm>
          <a:prstGeom prst="roundRect">
            <a:avLst>
              <a:gd name="adj" fmla="val 201575"/>
            </a:avLst>
          </a:prstGeom>
          <a:solidFill>
            <a:srgbClr val="282824"/>
          </a:solidFill>
          <a:ln/>
        </p:spPr>
      </p:sp>
      <p:sp>
        <p:nvSpPr>
          <p:cNvPr id="8" name="Shape 6"/>
          <p:cNvSpPr/>
          <p:nvPr/>
        </p:nvSpPr>
        <p:spPr>
          <a:xfrm>
            <a:off x="1791533" y="3414713"/>
            <a:ext cx="226814" cy="226814"/>
          </a:xfrm>
          <a:prstGeom prst="roundRect">
            <a:avLst>
              <a:gd name="adj" fmla="val 201575"/>
            </a:avLst>
          </a:prstGeom>
          <a:solidFill>
            <a:srgbClr val="282824"/>
          </a:solidFill>
          <a:ln/>
        </p:spPr>
      </p:sp>
      <p:sp>
        <p:nvSpPr>
          <p:cNvPr id="9" name="Text 7"/>
          <p:cNvSpPr/>
          <p:nvPr/>
        </p:nvSpPr>
        <p:spPr>
          <a:xfrm>
            <a:off x="2188369" y="3386376"/>
            <a:ext cx="1049893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10,000+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93790" y="39248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Records Processed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93790" y="4415314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Automatically handled daily.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5235893" y="3414713"/>
            <a:ext cx="226814" cy="226814"/>
          </a:xfrm>
          <a:prstGeom prst="roundRect">
            <a:avLst>
              <a:gd name="adj" fmla="val 201575"/>
            </a:avLst>
          </a:prstGeom>
          <a:solidFill>
            <a:srgbClr val="28282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5328" y="3414713"/>
            <a:ext cx="226814" cy="226814"/>
          </a:xfrm>
          <a:prstGeom prst="roundRect">
            <a:avLst>
              <a:gd name="adj" fmla="val 201575"/>
            </a:avLst>
          </a:prstGeom>
          <a:solidFill>
            <a:srgbClr val="282824"/>
          </a:solidFill>
          <a:ln/>
        </p:spPr>
      </p:sp>
      <p:sp>
        <p:nvSpPr>
          <p:cNvPr id="14" name="Shape 12"/>
          <p:cNvSpPr/>
          <p:nvPr/>
        </p:nvSpPr>
        <p:spPr>
          <a:xfrm>
            <a:off x="5734764" y="3414713"/>
            <a:ext cx="226814" cy="226814"/>
          </a:xfrm>
          <a:prstGeom prst="roundRect">
            <a:avLst>
              <a:gd name="adj" fmla="val 201575"/>
            </a:avLst>
          </a:prstGeom>
          <a:solidFill>
            <a:srgbClr val="282824"/>
          </a:solidFill>
          <a:ln/>
        </p:spPr>
      </p:sp>
      <p:sp>
        <p:nvSpPr>
          <p:cNvPr id="15" name="Shape 13"/>
          <p:cNvSpPr/>
          <p:nvPr/>
        </p:nvSpPr>
        <p:spPr>
          <a:xfrm>
            <a:off x="5984200" y="3414713"/>
            <a:ext cx="226814" cy="226814"/>
          </a:xfrm>
          <a:prstGeom prst="roundRect">
            <a:avLst>
              <a:gd name="adj" fmla="val 201575"/>
            </a:avLst>
          </a:prstGeom>
          <a:solidFill>
            <a:srgbClr val="E5DFD2"/>
          </a:solidFill>
          <a:ln/>
        </p:spPr>
      </p:sp>
      <p:sp>
        <p:nvSpPr>
          <p:cNvPr id="16" name="Shape 14"/>
          <p:cNvSpPr/>
          <p:nvPr/>
        </p:nvSpPr>
        <p:spPr>
          <a:xfrm>
            <a:off x="6233636" y="3414713"/>
            <a:ext cx="226814" cy="226814"/>
          </a:xfrm>
          <a:prstGeom prst="roundRect">
            <a:avLst>
              <a:gd name="adj" fmla="val 201575"/>
            </a:avLst>
          </a:prstGeom>
          <a:solidFill>
            <a:srgbClr val="E5DFD2"/>
          </a:solidFill>
          <a:ln/>
        </p:spPr>
      </p:sp>
      <p:sp>
        <p:nvSpPr>
          <p:cNvPr id="17" name="Text 15"/>
          <p:cNvSpPr/>
          <p:nvPr/>
        </p:nvSpPr>
        <p:spPr>
          <a:xfrm>
            <a:off x="6630472" y="3386376"/>
            <a:ext cx="1492687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65% to 95%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235893" y="39248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Quality Score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235893" y="4415314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Significant improvement achieved.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9677995" y="3414713"/>
            <a:ext cx="226814" cy="226814"/>
          </a:xfrm>
          <a:prstGeom prst="roundRect">
            <a:avLst>
              <a:gd name="adj" fmla="val 201575"/>
            </a:avLst>
          </a:prstGeom>
          <a:solidFill>
            <a:srgbClr val="E5DFD2"/>
          </a:solidFill>
          <a:ln/>
        </p:spPr>
      </p:sp>
      <p:sp>
        <p:nvSpPr>
          <p:cNvPr id="21" name="Shape 19"/>
          <p:cNvSpPr/>
          <p:nvPr/>
        </p:nvSpPr>
        <p:spPr>
          <a:xfrm>
            <a:off x="9927431" y="3414713"/>
            <a:ext cx="226814" cy="226814"/>
          </a:xfrm>
          <a:prstGeom prst="roundRect">
            <a:avLst>
              <a:gd name="adj" fmla="val 201575"/>
            </a:avLst>
          </a:prstGeom>
          <a:solidFill>
            <a:srgbClr val="E5DFD2"/>
          </a:solidFill>
          <a:ln/>
        </p:spPr>
      </p:sp>
      <p:sp>
        <p:nvSpPr>
          <p:cNvPr id="22" name="Shape 20"/>
          <p:cNvSpPr/>
          <p:nvPr/>
        </p:nvSpPr>
        <p:spPr>
          <a:xfrm>
            <a:off x="10176867" y="3414713"/>
            <a:ext cx="226814" cy="226814"/>
          </a:xfrm>
          <a:prstGeom prst="roundRect">
            <a:avLst>
              <a:gd name="adj" fmla="val 201575"/>
            </a:avLst>
          </a:prstGeom>
          <a:solidFill>
            <a:srgbClr val="E5DFD2"/>
          </a:solidFill>
          <a:ln/>
        </p:spPr>
      </p:sp>
      <p:sp>
        <p:nvSpPr>
          <p:cNvPr id="23" name="Shape 21"/>
          <p:cNvSpPr/>
          <p:nvPr/>
        </p:nvSpPr>
        <p:spPr>
          <a:xfrm>
            <a:off x="10426303" y="3414713"/>
            <a:ext cx="226814" cy="226814"/>
          </a:xfrm>
          <a:prstGeom prst="roundRect">
            <a:avLst>
              <a:gd name="adj" fmla="val 201575"/>
            </a:avLst>
          </a:prstGeom>
          <a:solidFill>
            <a:srgbClr val="E5DFD2"/>
          </a:solidFill>
          <a:ln/>
        </p:spPr>
      </p:sp>
      <p:sp>
        <p:nvSpPr>
          <p:cNvPr id="24" name="Shape 22"/>
          <p:cNvSpPr/>
          <p:nvPr/>
        </p:nvSpPr>
        <p:spPr>
          <a:xfrm>
            <a:off x="10675739" y="3414713"/>
            <a:ext cx="226814" cy="226814"/>
          </a:xfrm>
          <a:prstGeom prst="roundRect">
            <a:avLst>
              <a:gd name="adj" fmla="val 201575"/>
            </a:avLst>
          </a:prstGeom>
          <a:solidFill>
            <a:srgbClr val="E5DFD2"/>
          </a:solidFill>
          <a:ln/>
        </p:spPr>
      </p:sp>
      <p:sp>
        <p:nvSpPr>
          <p:cNvPr id="25" name="Text 23"/>
          <p:cNvSpPr/>
          <p:nvPr/>
        </p:nvSpPr>
        <p:spPr>
          <a:xfrm>
            <a:off x="11072574" y="3386376"/>
            <a:ext cx="939522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&lt; 5 Min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677995" y="39248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Report Generation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677995" y="4415314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Rapid insight delivery.</a:t>
            </a:r>
            <a:endParaRPr lang="en-US" sz="1750" dirty="0"/>
          </a:p>
        </p:txBody>
      </p:sp>
      <p:sp>
        <p:nvSpPr>
          <p:cNvPr id="28" name="Shape 26"/>
          <p:cNvSpPr/>
          <p:nvPr/>
        </p:nvSpPr>
        <p:spPr>
          <a:xfrm>
            <a:off x="793790" y="5345192"/>
            <a:ext cx="226814" cy="226814"/>
          </a:xfrm>
          <a:prstGeom prst="roundRect">
            <a:avLst>
              <a:gd name="adj" fmla="val 201575"/>
            </a:avLst>
          </a:prstGeom>
          <a:solidFill>
            <a:srgbClr val="E5DFD2"/>
          </a:solidFill>
          <a:ln/>
        </p:spPr>
      </p:sp>
      <p:sp>
        <p:nvSpPr>
          <p:cNvPr id="29" name="Shape 27"/>
          <p:cNvSpPr/>
          <p:nvPr/>
        </p:nvSpPr>
        <p:spPr>
          <a:xfrm>
            <a:off x="1043226" y="5345192"/>
            <a:ext cx="226814" cy="226814"/>
          </a:xfrm>
          <a:prstGeom prst="roundRect">
            <a:avLst>
              <a:gd name="adj" fmla="val 201575"/>
            </a:avLst>
          </a:prstGeom>
          <a:solidFill>
            <a:srgbClr val="E5DFD2"/>
          </a:solidFill>
          <a:ln/>
        </p:spPr>
      </p:sp>
      <p:sp>
        <p:nvSpPr>
          <p:cNvPr id="30" name="Shape 28"/>
          <p:cNvSpPr/>
          <p:nvPr/>
        </p:nvSpPr>
        <p:spPr>
          <a:xfrm>
            <a:off x="1292662" y="5345192"/>
            <a:ext cx="226814" cy="226814"/>
          </a:xfrm>
          <a:prstGeom prst="roundRect">
            <a:avLst>
              <a:gd name="adj" fmla="val 201575"/>
            </a:avLst>
          </a:prstGeom>
          <a:solidFill>
            <a:srgbClr val="E5DFD2"/>
          </a:solidFill>
          <a:ln/>
        </p:spPr>
      </p:sp>
      <p:sp>
        <p:nvSpPr>
          <p:cNvPr id="31" name="Shape 29"/>
          <p:cNvSpPr/>
          <p:nvPr/>
        </p:nvSpPr>
        <p:spPr>
          <a:xfrm>
            <a:off x="1542098" y="5345192"/>
            <a:ext cx="226814" cy="226814"/>
          </a:xfrm>
          <a:prstGeom prst="roundRect">
            <a:avLst>
              <a:gd name="adj" fmla="val 201575"/>
            </a:avLst>
          </a:prstGeom>
          <a:solidFill>
            <a:srgbClr val="E5DFD2"/>
          </a:solidFill>
          <a:ln/>
        </p:spPr>
      </p:sp>
      <p:sp>
        <p:nvSpPr>
          <p:cNvPr id="32" name="Shape 30"/>
          <p:cNvSpPr/>
          <p:nvPr/>
        </p:nvSpPr>
        <p:spPr>
          <a:xfrm>
            <a:off x="1791533" y="5345192"/>
            <a:ext cx="226814" cy="226814"/>
          </a:xfrm>
          <a:prstGeom prst="roundRect">
            <a:avLst>
              <a:gd name="adj" fmla="val 201575"/>
            </a:avLst>
          </a:prstGeom>
          <a:solidFill>
            <a:srgbClr val="E5DFD2"/>
          </a:solidFill>
          <a:ln/>
        </p:spPr>
      </p:sp>
      <p:sp>
        <p:nvSpPr>
          <p:cNvPr id="33" name="Text 31"/>
          <p:cNvSpPr/>
          <p:nvPr/>
        </p:nvSpPr>
        <p:spPr>
          <a:xfrm>
            <a:off x="2188369" y="5316855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9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93790" y="58553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Interactive Visuals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93790" y="6345793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Key metrics at a glance.</a:t>
            </a:r>
            <a:endParaRPr lang="en-US" sz="1750" dirty="0"/>
          </a:p>
        </p:txBody>
      </p:sp>
      <p:sp>
        <p:nvSpPr>
          <p:cNvPr id="36" name="Shape 34"/>
          <p:cNvSpPr/>
          <p:nvPr/>
        </p:nvSpPr>
        <p:spPr>
          <a:xfrm>
            <a:off x="5235893" y="5345192"/>
            <a:ext cx="226814" cy="226814"/>
          </a:xfrm>
          <a:prstGeom prst="roundRect">
            <a:avLst>
              <a:gd name="adj" fmla="val 201575"/>
            </a:avLst>
          </a:prstGeom>
          <a:solidFill>
            <a:srgbClr val="E5DFD2"/>
          </a:solidFill>
          <a:ln/>
        </p:spPr>
      </p:sp>
      <p:sp>
        <p:nvSpPr>
          <p:cNvPr id="37" name="Shape 35"/>
          <p:cNvSpPr/>
          <p:nvPr/>
        </p:nvSpPr>
        <p:spPr>
          <a:xfrm>
            <a:off x="5485328" y="5345192"/>
            <a:ext cx="226814" cy="226814"/>
          </a:xfrm>
          <a:prstGeom prst="roundRect">
            <a:avLst>
              <a:gd name="adj" fmla="val 201575"/>
            </a:avLst>
          </a:prstGeom>
          <a:solidFill>
            <a:srgbClr val="E5DFD2"/>
          </a:solidFill>
          <a:ln/>
        </p:spPr>
      </p:sp>
      <p:sp>
        <p:nvSpPr>
          <p:cNvPr id="38" name="Shape 36"/>
          <p:cNvSpPr/>
          <p:nvPr/>
        </p:nvSpPr>
        <p:spPr>
          <a:xfrm>
            <a:off x="5734764" y="5345192"/>
            <a:ext cx="226814" cy="226814"/>
          </a:xfrm>
          <a:prstGeom prst="roundRect">
            <a:avLst>
              <a:gd name="adj" fmla="val 201575"/>
            </a:avLst>
          </a:prstGeom>
          <a:solidFill>
            <a:srgbClr val="E5DFD2"/>
          </a:solidFill>
          <a:ln/>
        </p:spPr>
      </p:sp>
      <p:sp>
        <p:nvSpPr>
          <p:cNvPr id="39" name="Shape 37"/>
          <p:cNvSpPr/>
          <p:nvPr/>
        </p:nvSpPr>
        <p:spPr>
          <a:xfrm>
            <a:off x="5984200" y="5345192"/>
            <a:ext cx="226814" cy="226814"/>
          </a:xfrm>
          <a:prstGeom prst="roundRect">
            <a:avLst>
              <a:gd name="adj" fmla="val 201575"/>
            </a:avLst>
          </a:prstGeom>
          <a:solidFill>
            <a:srgbClr val="E5DFD2"/>
          </a:solidFill>
          <a:ln/>
        </p:spPr>
      </p:sp>
      <p:sp>
        <p:nvSpPr>
          <p:cNvPr id="40" name="Shape 38"/>
          <p:cNvSpPr/>
          <p:nvPr/>
        </p:nvSpPr>
        <p:spPr>
          <a:xfrm>
            <a:off x="6233636" y="5345192"/>
            <a:ext cx="226814" cy="226814"/>
          </a:xfrm>
          <a:prstGeom prst="roundRect">
            <a:avLst>
              <a:gd name="adj" fmla="val 201575"/>
            </a:avLst>
          </a:prstGeom>
          <a:solidFill>
            <a:srgbClr val="E5DFD2"/>
          </a:solidFill>
          <a:ln/>
        </p:spPr>
      </p:sp>
      <p:sp>
        <p:nvSpPr>
          <p:cNvPr id="41" name="Text 39"/>
          <p:cNvSpPr/>
          <p:nvPr/>
        </p:nvSpPr>
        <p:spPr>
          <a:xfrm>
            <a:off x="6630472" y="5316855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5235893" y="58553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HTML Dashboard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5235893" y="6345793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Centralized data view.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2025-12-12T20:56:07Z</dcterms:created>
  <dcterms:modified xsi:type="dcterms:W3CDTF">2025-12-12T20:56:07Z</dcterms:modified>
</cp:coreProperties>
</file>